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15"/>
  </p:notesMasterIdLst>
  <p:sldIdLst>
    <p:sldId id="256" r:id="rId2"/>
    <p:sldId id="283" r:id="rId3"/>
    <p:sldId id="260" r:id="rId4"/>
    <p:sldId id="261" r:id="rId5"/>
    <p:sldId id="287" r:id="rId6"/>
    <p:sldId id="285" r:id="rId7"/>
    <p:sldId id="262" r:id="rId8"/>
    <p:sldId id="266" r:id="rId9"/>
    <p:sldId id="263" r:id="rId10"/>
    <p:sldId id="264" r:id="rId11"/>
    <p:sldId id="265" r:id="rId12"/>
    <p:sldId id="267" r:id="rId13"/>
    <p:sldId id="259" r:id="rId14"/>
  </p:sldIdLst>
  <p:sldSz cx="12192000" cy="6858000"/>
  <p:notesSz cx="6858000" cy="9144000"/>
  <p:embeddedFontLst>
    <p:embeddedFont>
      <p:font typeface="Libre Baskerville" panose="02000000000000000000" pitchFamily="2" charset="0"/>
      <p:regular r:id="rId16"/>
      <p:bold r:id="rId17"/>
      <p:italic r:id="rId18"/>
    </p:embeddedFont>
    <p:embeddedFont>
      <p:font typeface="Sitka Display" pitchFamily="2" charset="0"/>
      <p:regular r:id="rId19"/>
      <p:bold r:id="rId20"/>
      <p:italic r:id="rId21"/>
      <p:boldItalic r:id="rId22"/>
    </p:embeddedFont>
    <p:embeddedFont>
      <p:font typeface="Staatliches" pitchFamily="2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>
        <p:scale>
          <a:sx n="75" d="100"/>
          <a:sy n="75" d="100"/>
        </p:scale>
        <p:origin x="859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99210041142@klu.ac.in" userId="58ee4bf130a6592f" providerId="LiveId" clId="{36C95871-FC33-4686-8978-35660D8D0731}"/>
    <pc:docChg chg="modSld">
      <pc:chgData name="99210041142@klu.ac.in" userId="58ee4bf130a6592f" providerId="LiveId" clId="{36C95871-FC33-4686-8978-35660D8D0731}" dt="2026-01-07T12:50:00.529" v="15" actId="1076"/>
      <pc:docMkLst>
        <pc:docMk/>
      </pc:docMkLst>
      <pc:sldChg chg="modSp mod">
        <pc:chgData name="99210041142@klu.ac.in" userId="58ee4bf130a6592f" providerId="LiveId" clId="{36C95871-FC33-4686-8978-35660D8D0731}" dt="2026-01-07T12:38:59.432" v="14" actId="20577"/>
        <pc:sldMkLst>
          <pc:docMk/>
          <pc:sldMk cId="0" sldId="256"/>
        </pc:sldMkLst>
        <pc:spChg chg="mod">
          <ac:chgData name="99210041142@klu.ac.in" userId="58ee4bf130a6592f" providerId="LiveId" clId="{36C95871-FC33-4686-8978-35660D8D0731}" dt="2026-01-07T12:38:59.432" v="14" actId="20577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99210041142@klu.ac.in" userId="58ee4bf130a6592f" providerId="LiveId" clId="{36C95871-FC33-4686-8978-35660D8D0731}" dt="2026-01-07T12:50:00.529" v="15" actId="1076"/>
        <pc:sldMkLst>
          <pc:docMk/>
          <pc:sldMk cId="2037467934" sldId="262"/>
        </pc:sldMkLst>
        <pc:picChg chg="mod">
          <ac:chgData name="99210041142@klu.ac.in" userId="58ee4bf130a6592f" providerId="LiveId" clId="{36C95871-FC33-4686-8978-35660D8D0731}" dt="2026-01-07T12:50:00.529" v="15" actId="1076"/>
          <ac:picMkLst>
            <pc:docMk/>
            <pc:sldMk cId="2037467934" sldId="262"/>
            <ac:picMk id="11" creationId="{B57ECD4D-12A4-E9E0-E689-4C0592E57C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1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 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6731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015C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/>
          <p:nvPr/>
        </p:nvSpPr>
        <p:spPr>
          <a:xfrm>
            <a:off x="11489912" y="152311"/>
            <a:ext cx="507671" cy="399983"/>
          </a:xfrm>
          <a:custGeom>
            <a:avLst/>
            <a:gdLst/>
            <a:ahLst/>
            <a:cxnLst/>
            <a:rect l="l" t="t" r="r" b="b"/>
            <a:pathLst>
              <a:path w="761507" h="599975" extrusionOk="0">
                <a:moveTo>
                  <a:pt x="0" y="0"/>
                </a:moveTo>
                <a:lnTo>
                  <a:pt x="761507" y="0"/>
                </a:lnTo>
                <a:lnTo>
                  <a:pt x="761507" y="599976"/>
                </a:lnTo>
                <a:lnTo>
                  <a:pt x="0" y="5999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Google Shape;18;p3"/>
          <p:cNvSpPr txBox="1"/>
          <p:nvPr/>
        </p:nvSpPr>
        <p:spPr>
          <a:xfrm>
            <a:off x="194417" y="153967"/>
            <a:ext cx="2059200" cy="459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strike="noStrike" cap="none">
                <a:solidFill>
                  <a:srgbClr val="015CF1"/>
                </a:solidFill>
                <a:uFill>
                  <a:noFill/>
                </a:uFill>
                <a:latin typeface="Staatliches"/>
                <a:ea typeface="Staatliches"/>
                <a:cs typeface="Staatliches"/>
                <a:sym typeface="Staatliches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NEWSPAPER</a:t>
            </a:r>
            <a:endParaRPr sz="933">
              <a:solidFill>
                <a:srgbClr val="015CF1"/>
              </a:solidFill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2823301" y="242017"/>
            <a:ext cx="1296400" cy="2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1" i="0" strike="noStrike" cap="none">
                <a:solidFill>
                  <a:srgbClr val="015CF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</a:t>
            </a:r>
            <a:endParaRPr sz="933" b="1">
              <a:solidFill>
                <a:srgbClr val="015CF1"/>
              </a:solidFill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733200" y="242017"/>
            <a:ext cx="1254600" cy="2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1" i="0" strike="noStrike" cap="none">
                <a:solidFill>
                  <a:srgbClr val="015CF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 STORIES</a:t>
            </a:r>
            <a:endParaRPr sz="933" b="1">
              <a:solidFill>
                <a:srgbClr val="015CF1"/>
              </a:solidFill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96549" y="242017"/>
            <a:ext cx="1175000" cy="2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1" i="0" strike="noStrike" cap="none">
                <a:solidFill>
                  <a:srgbClr val="015CF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US</a:t>
            </a:r>
            <a:endParaRPr sz="933" b="1">
              <a:solidFill>
                <a:srgbClr val="015CF1"/>
              </a:solidFill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7983073" y="242017"/>
            <a:ext cx="1175000" cy="2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1" i="0" strike="noStrike" cap="none">
                <a:solidFill>
                  <a:srgbClr val="015CF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CREDITS</a:t>
            </a:r>
            <a:endParaRPr sz="933" b="1">
              <a:solidFill>
                <a:srgbClr val="015CF1"/>
              </a:solidFill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9440999" y="242017"/>
            <a:ext cx="1382800" cy="2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1" i="0" strike="noStrike" cap="none">
                <a:solidFill>
                  <a:srgbClr val="015CF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</a:t>
            </a:r>
            <a:endParaRPr sz="933" b="1">
              <a:solidFill>
                <a:srgbClr val="015C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1817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07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80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60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50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83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54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0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1585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843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79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4400"/>
              <a:buFont typeface="Arimo"/>
              <a:buNone/>
              <a:defRPr sz="4400" b="1" i="0" u="none" strike="noStrike" cap="none">
                <a:solidFill>
                  <a:srgbClr val="015CF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15CF1"/>
              </a:buClr>
              <a:buSzPts val="1400"/>
              <a:buNone/>
              <a:defRPr sz="1800">
                <a:solidFill>
                  <a:srgbClr val="015CF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015CF1"/>
              </a:buClr>
              <a:buSzPts val="3200"/>
              <a:buFont typeface="Arimo"/>
              <a:buChar char="•"/>
              <a:defRPr sz="3200" i="0" u="none" strike="noStrike" cap="none">
                <a:solidFill>
                  <a:srgbClr val="015CF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Char char="–"/>
              <a:defRPr sz="28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Char char="•"/>
              <a:defRPr sz="24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–"/>
              <a:defRPr sz="20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•"/>
              <a:defRPr sz="20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•"/>
              <a:defRPr sz="20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•"/>
              <a:defRPr sz="20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•"/>
              <a:defRPr sz="200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615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" y="10160"/>
            <a:ext cx="12190815" cy="68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01784" y="3347049"/>
            <a:ext cx="7798855" cy="264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r>
              <a:rPr lang="en-IN" sz="3000" b="1" dirty="0"/>
              <a:t> Management System</a:t>
            </a:r>
          </a:p>
          <a:p>
            <a:pPr lvl="0" algn="ctr">
              <a:buSzPts val="1800"/>
            </a:pPr>
            <a:r>
              <a:rPr lang="en-IN" sz="3000" b="1" dirty="0"/>
              <a:t>Presented by</a:t>
            </a:r>
          </a:p>
          <a:p>
            <a:pPr lvl="0" algn="ctr">
              <a:buSzPts val="1800"/>
            </a:pPr>
            <a:r>
              <a:rPr lang="en-IN" sz="3000" b="1" dirty="0"/>
              <a:t>B SANDEEPKUMAR</a:t>
            </a:r>
          </a:p>
          <a:p>
            <a:pPr lvl="0" algn="ctr">
              <a:buSzPts val="1800"/>
            </a:pPr>
            <a:endParaRPr lang="en-IN" sz="3000" b="1" dirty="0"/>
          </a:p>
          <a:p>
            <a:pPr lvl="0" algn="ctr">
              <a:buSzPts val="1800"/>
            </a:pP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08562-7119-3D23-A6CA-EC1F0007F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691" y="5791200"/>
            <a:ext cx="2695716" cy="9028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1C23F-8713-0755-AE51-B37D3430D0DA}"/>
              </a:ext>
            </a:extLst>
          </p:cNvPr>
          <p:cNvSpPr txBox="1"/>
          <p:nvPr/>
        </p:nvSpPr>
        <p:spPr>
          <a:xfrm>
            <a:off x="782320" y="355600"/>
            <a:ext cx="103936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/>
              <a:t>This project focuses on designing and analyzing a </a:t>
            </a:r>
            <a:r>
              <a:rPr lang="en-US" sz="2000" b="1" dirty="0"/>
              <a:t>Library Database Management System</a:t>
            </a:r>
            <a:r>
              <a:rPr lang="en-US" sz="2000" dirty="0"/>
              <a:t> using SQL. The system models real-world library operations by efficiently managing data related to </a:t>
            </a:r>
            <a:r>
              <a:rPr lang="en-US" sz="2000" b="1" dirty="0"/>
              <a:t>books, authors, publishers, library branches, borrowers, and loan transactions</a:t>
            </a:r>
            <a:r>
              <a:rPr lang="en-US" sz="2000" dirty="0"/>
              <a:t>. By creating a structured relational database with appropriate constraints and relationships, the project enables accurate data storage, retrieval, and analysis. The primary objective is to answer business-oriented queries that help libraries track book availability, borrowing activity, and branch-wise performance using SQL queries.</a:t>
            </a:r>
            <a:endParaRPr lang="en-US" sz="2000" dirty="0">
              <a:latin typeface="Sitka Display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31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2FAD-C655-548C-B700-0C04417B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+mj-lt"/>
              </a:rPr>
              <a:t>ER Diagram 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828E7-36FE-A9B3-C76F-FBBCB8771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81036"/>
            <a:ext cx="12192000" cy="6347121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endParaRPr lang="en-IN" sz="1800" b="1" dirty="0">
              <a:latin typeface="+mn-lt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1E65A-2636-12DF-1E4C-A44A2768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894" y="681036"/>
            <a:ext cx="6790008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8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430C9-762E-8CA7-B5DD-2A3F8AC1832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114300" indent="0">
              <a:lnSpc>
                <a:spcPct val="100000"/>
              </a:lnSpc>
              <a:buNone/>
            </a:pPr>
            <a:endParaRPr lang="en-IN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Publisher Table</a:t>
            </a:r>
            <a:endParaRPr lang="en-IN" sz="145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n-IN" sz="145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</a:t>
            </a:r>
          </a:p>
          <a:p>
            <a:pPr marL="114300" indent="0">
              <a:lnSpc>
                <a:spcPct val="100000"/>
              </a:lnSpc>
              <a:buNone/>
            </a:pP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lnSpc>
                <a:spcPct val="100000"/>
              </a:lnSpc>
              <a:buNone/>
            </a:pPr>
            <a:endParaRPr lang="en-IN" sz="14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lnSpc>
                <a:spcPct val="100000"/>
              </a:lnSpc>
              <a:buNone/>
            </a:pPr>
            <a:endParaRPr lang="en-IN" b="1" dirty="0"/>
          </a:p>
          <a:p>
            <a:pPr marL="114300" indent="0">
              <a:lnSpc>
                <a:spcPct val="100000"/>
              </a:lnSpc>
              <a:buNone/>
            </a:pPr>
            <a:r>
              <a:rPr lang="en-IN" sz="1450" b="1" dirty="0">
                <a:latin typeface="Arial" panose="020B0604020202020204" pitchFamily="34" charset="0"/>
                <a:cs typeface="Arial" panose="020B0604020202020204" pitchFamily="34" charset="0"/>
              </a:rPr>
              <a:t> Table</a:t>
            </a:r>
          </a:p>
          <a:p>
            <a:pPr marL="114300" indent="0">
              <a:lnSpc>
                <a:spcPct val="100000"/>
              </a:lnSpc>
              <a:buNone/>
            </a:pPr>
            <a:endParaRPr lang="en-IN" sz="14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n-IN" sz="145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Table</a:t>
            </a:r>
          </a:p>
          <a:p>
            <a:pPr marL="114300" indent="0">
              <a:lnSpc>
                <a:spcPct val="100000"/>
              </a:lnSpc>
              <a:buNone/>
            </a:pPr>
            <a:endParaRPr lang="en-IN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IN" sz="2000" dirty="0"/>
              <a:t>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D763D-32CB-96B7-F4B9-6721D7A5A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1" y="641499"/>
            <a:ext cx="4968671" cy="184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5EFE92-9B8F-32E5-0467-E9F8FAB63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1" y="3127198"/>
            <a:ext cx="4633362" cy="16460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0C43B4-F6A0-C680-2F0C-8AF8762D7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51145"/>
            <a:ext cx="4442845" cy="8611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3106E7-7EFE-09FE-D0E2-34F0F6E11E71}"/>
              </a:ext>
            </a:extLst>
          </p:cNvPr>
          <p:cNvSpPr txBox="1"/>
          <p:nvPr/>
        </p:nvSpPr>
        <p:spPr>
          <a:xfrm>
            <a:off x="276970" y="5085169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</a:rPr>
              <a:t>Library branch Table</a:t>
            </a:r>
          </a:p>
        </p:txBody>
      </p:sp>
    </p:spTree>
    <p:extLst>
      <p:ext uri="{BB962C8B-B14F-4D97-AF65-F5344CB8AC3E}">
        <p14:creationId xmlns:p14="http://schemas.microsoft.com/office/powerpoint/2010/main" val="30446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5DD41-4F73-48C6-801E-44DEE04D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100"/>
            <a:ext cx="5197290" cy="1386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36C106-7AF5-1F46-3255-66527619DE3D}"/>
              </a:ext>
            </a:extLst>
          </p:cNvPr>
          <p:cNvSpPr txBox="1"/>
          <p:nvPr/>
        </p:nvSpPr>
        <p:spPr>
          <a:xfrm>
            <a:off x="146957" y="373291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Book copies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5CCC6F-C7F8-5E7B-3DB7-3287F279F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7671"/>
            <a:ext cx="6980525" cy="13412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4960BB-D2A3-868B-2E4A-1D8B5160A453}"/>
              </a:ext>
            </a:extLst>
          </p:cNvPr>
          <p:cNvSpPr txBox="1"/>
          <p:nvPr/>
        </p:nvSpPr>
        <p:spPr>
          <a:xfrm>
            <a:off x="240264" y="2472679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Book_loans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DDB285-6AA6-B440-0555-4387E93F4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66" y="5246235"/>
            <a:ext cx="5951736" cy="13107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824B1A-CFA1-0F54-9701-83A693272357}"/>
              </a:ext>
            </a:extLst>
          </p:cNvPr>
          <p:cNvSpPr txBox="1"/>
          <p:nvPr/>
        </p:nvSpPr>
        <p:spPr>
          <a:xfrm>
            <a:off x="240264" y="4713741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Borrower Table</a:t>
            </a:r>
          </a:p>
        </p:txBody>
      </p:sp>
    </p:spTree>
    <p:extLst>
      <p:ext uri="{BB962C8B-B14F-4D97-AF65-F5344CB8AC3E}">
        <p14:creationId xmlns:p14="http://schemas.microsoft.com/office/powerpoint/2010/main" val="73369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263325-4747-BF09-39B1-61614F0C6928}"/>
              </a:ext>
            </a:extLst>
          </p:cNvPr>
          <p:cNvSpPr txBox="1"/>
          <p:nvPr/>
        </p:nvSpPr>
        <p:spPr>
          <a:xfrm>
            <a:off x="716280" y="1351051"/>
            <a:ext cx="10759440" cy="5011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/>
              <a:t>Libraries</a:t>
            </a:r>
            <a:r>
              <a:rPr lang="en-US" sz="2400" dirty="0"/>
              <a:t> manage large volumes of data related to books, authors, publishers, library branches, borrowers, and loan transactions. Traditional or unstructured data management methods often lead to </a:t>
            </a:r>
            <a:r>
              <a:rPr lang="en-US" sz="2400" b="1" dirty="0"/>
              <a:t>data redundancy, inconsistency, and difficulty in tracking book availability and borrower activity</a:t>
            </a:r>
            <a:r>
              <a:rPr lang="en-US" sz="2400" dirty="0"/>
              <a:t>. There is a need for a </a:t>
            </a:r>
            <a:r>
              <a:rPr lang="en-US" sz="2400" b="1" dirty="0"/>
              <a:t>centralized, well-structured relational database system</a:t>
            </a:r>
            <a:r>
              <a:rPr lang="en-US" sz="2400" dirty="0"/>
              <a:t> that can efficiently store, manage, and retrieve library data while ensuring data integrity and supporting meaningful analytical queries. This project aims to design and implement such a database using SQL to accurately model real-world library operations and answer key operational questions.</a:t>
            </a:r>
            <a:endParaRPr lang="en-US" sz="2200" dirty="0">
              <a:latin typeface="Sitka Display" pitchFamily="2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C2896C1-BE7F-68C5-83A4-1208B4989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04761"/>
            <a:ext cx="10515600" cy="64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07011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6998C3E-BA35-9C72-1712-4D6EF56EF8D4}"/>
              </a:ext>
            </a:extLst>
          </p:cNvPr>
          <p:cNvSpPr txBox="1"/>
          <p:nvPr/>
        </p:nvSpPr>
        <p:spPr>
          <a:xfrm>
            <a:off x="403627" y="558177"/>
            <a:ext cx="116105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copies of the book titled "The Lost Tribe" are owned by each library branch?</a:t>
            </a:r>
            <a:endParaRPr lang="en-IN" sz="3000" b="1" dirty="0"/>
          </a:p>
          <a:p>
            <a:pPr marL="114300" indent="0">
              <a:lnSpc>
                <a:spcPct val="100000"/>
              </a:lnSpc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r>
              <a:rPr lang="en-IN" sz="2800" b="1" dirty="0"/>
              <a:t> </a:t>
            </a:r>
            <a:r>
              <a:rPr lang="en-IN" sz="3000" b="1" dirty="0"/>
              <a:t>                                               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3000" b="1" dirty="0"/>
          </a:p>
          <a:p>
            <a:pPr marL="114300" indent="0">
              <a:lnSpc>
                <a:spcPct val="100000"/>
              </a:lnSpc>
              <a:buNone/>
            </a:pPr>
            <a:endParaRPr lang="en-IN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746B2-2069-14CD-0912-462E4259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77" y="2722965"/>
            <a:ext cx="2118544" cy="2804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7ECD4D-12A4-E9E0-E689-4C0592E57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68" y="2611205"/>
            <a:ext cx="4122777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6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741D6E-B7BB-E554-95A9-8E575EEC2E7E}"/>
              </a:ext>
            </a:extLst>
          </p:cNvPr>
          <p:cNvSpPr txBox="1"/>
          <p:nvPr/>
        </p:nvSpPr>
        <p:spPr>
          <a:xfrm>
            <a:off x="1073210" y="585487"/>
            <a:ext cx="826892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Retrieve the names of all borrowers who do not have any books checked out.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114300" indent="0">
              <a:lnSpc>
                <a:spcPct val="100000"/>
              </a:lnSpc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/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06E46-47CE-F156-E939-B1D90F152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10" y="2625505"/>
            <a:ext cx="2644369" cy="1196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8500D-C06D-ECB5-7648-08E8F23E6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97" y="2528650"/>
            <a:ext cx="1767993" cy="9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41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E5B59C8-6072-9FBB-BC21-B9206CFCBDAC}"/>
              </a:ext>
            </a:extLst>
          </p:cNvPr>
          <p:cNvSpPr txBox="1"/>
          <p:nvPr/>
        </p:nvSpPr>
        <p:spPr>
          <a:xfrm>
            <a:off x="256188" y="3353689"/>
            <a:ext cx="11935812" cy="153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6350">
              <a:lnSpc>
                <a:spcPct val="110000"/>
              </a:lnSpc>
              <a:spcAft>
                <a:spcPts val="3625"/>
              </a:spcAft>
              <a:buNone/>
            </a:pPr>
            <a:endParaRPr lang="en-IN" sz="30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28650" indent="-6350">
              <a:lnSpc>
                <a:spcPct val="110000"/>
              </a:lnSpc>
              <a:spcAft>
                <a:spcPts val="3625"/>
              </a:spcAft>
              <a:buNone/>
            </a:pPr>
            <a:endParaRPr lang="en-IN" sz="3000" b="1" kern="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1B349-41CF-4102-B852-AA78AB5E9786}"/>
              </a:ext>
            </a:extLst>
          </p:cNvPr>
          <p:cNvSpPr txBox="1"/>
          <p:nvPr/>
        </p:nvSpPr>
        <p:spPr>
          <a:xfrm>
            <a:off x="0" y="381803"/>
            <a:ext cx="8406580" cy="4140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6350">
              <a:lnSpc>
                <a:spcPct val="110000"/>
              </a:lnSpc>
              <a:spcAft>
                <a:spcPts val="4290"/>
              </a:spcAft>
              <a:buNone/>
            </a:pPr>
            <a:r>
              <a:rPr lang="en-US" sz="3000" b="1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For each book that is loaned out from the "Sharpstown" branch and whose Due Date is 2/3/18, retrieve the book title, the borrower's name, and the borrower's address</a:t>
            </a:r>
            <a:r>
              <a:rPr lang="en-IN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</a:p>
          <a:p>
            <a:pPr marL="628650" indent="-6350">
              <a:lnSpc>
                <a:spcPct val="110000"/>
              </a:lnSpc>
              <a:spcAft>
                <a:spcPts val="4290"/>
              </a:spcAft>
              <a:buNone/>
            </a:pPr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                                                    Output</a:t>
            </a:r>
          </a:p>
          <a:p>
            <a:pPr marL="628650" indent="-6350">
              <a:lnSpc>
                <a:spcPct val="110000"/>
              </a:lnSpc>
              <a:spcAft>
                <a:spcPts val="4290"/>
              </a:spcAft>
              <a:buNone/>
            </a:pPr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43DA5-DFFC-D972-F655-E1818D195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34" y="3587222"/>
            <a:ext cx="4092295" cy="2598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317FC-F4B4-A1E6-33BD-416FA8481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805" y="3683638"/>
            <a:ext cx="5845047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5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43268B-FD1B-E052-1877-88BF1ECBCE0D}"/>
              </a:ext>
            </a:extLst>
          </p:cNvPr>
          <p:cNvSpPr txBox="1"/>
          <p:nvPr/>
        </p:nvSpPr>
        <p:spPr>
          <a:xfrm>
            <a:off x="-212649" y="423654"/>
            <a:ext cx="8065345" cy="2514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6350">
              <a:lnSpc>
                <a:spcPct val="110000"/>
              </a:lnSpc>
              <a:spcAft>
                <a:spcPts val="3625"/>
              </a:spcAft>
              <a:buNone/>
            </a:pPr>
            <a:r>
              <a:rPr lang="en-US" sz="3000" b="1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 each library branch, retrieve the branch name and the total number of books loaned out from that branch.</a:t>
            </a:r>
            <a:r>
              <a:rPr lang="en-IN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</a:p>
          <a:p>
            <a:pPr marL="628650" indent="-6350">
              <a:lnSpc>
                <a:spcPct val="110000"/>
              </a:lnSpc>
              <a:spcAft>
                <a:spcPts val="3625"/>
              </a:spcAft>
              <a:buNone/>
            </a:pPr>
            <a:r>
              <a:rPr lang="en-IN" sz="28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Query</a:t>
            </a:r>
            <a:endParaRPr lang="en-IN" sz="28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8A8BC-6011-0CEC-7412-640B77CD8CD7}"/>
              </a:ext>
            </a:extLst>
          </p:cNvPr>
          <p:cNvSpPr txBox="1"/>
          <p:nvPr/>
        </p:nvSpPr>
        <p:spPr>
          <a:xfrm>
            <a:off x="7209536" y="2360960"/>
            <a:ext cx="6095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B936A-B6BF-E605-EB31-8F80C79C4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12" y="3353198"/>
            <a:ext cx="4282811" cy="1569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8C3F0D-AB35-F7BE-160A-DBFDCB25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36" y="3536094"/>
            <a:ext cx="2552921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31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67CCAB-0094-6C2E-074F-C31A01897ACA}"/>
              </a:ext>
            </a:extLst>
          </p:cNvPr>
          <p:cNvSpPr txBox="1"/>
          <p:nvPr/>
        </p:nvSpPr>
        <p:spPr>
          <a:xfrm>
            <a:off x="549962" y="337455"/>
            <a:ext cx="96537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Retrieve the names, addresses, and number of books checked out for all borrowers who have more than five books checked out. </a:t>
            </a:r>
            <a:r>
              <a:rPr lang="en-IN" sz="3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B7829-9737-C7A8-EF0D-04293C39BB40}"/>
              </a:ext>
            </a:extLst>
          </p:cNvPr>
          <p:cNvSpPr txBox="1"/>
          <p:nvPr/>
        </p:nvSpPr>
        <p:spPr>
          <a:xfrm>
            <a:off x="8790763" y="1607538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AAF92-F954-89B2-7F6B-49A28B76B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4" y="2735475"/>
            <a:ext cx="4397121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DA28FD-042A-8395-8DD5-2BAB9FF86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975" y="2685985"/>
            <a:ext cx="5532599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1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0F0BC6-A400-F67F-3581-3C9C3B5A7E9A}"/>
              </a:ext>
            </a:extLst>
          </p:cNvPr>
          <p:cNvSpPr txBox="1"/>
          <p:nvPr/>
        </p:nvSpPr>
        <p:spPr>
          <a:xfrm>
            <a:off x="550660" y="421095"/>
            <a:ext cx="103408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For each book authored by "Stephen King", retrieve the title and the number of copies owned by the library branch whose name is "Central"?</a:t>
            </a:r>
          </a:p>
          <a:p>
            <a:endParaRPr lang="en-IN" sz="3000" b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60B14-40F3-DD80-0C07-E840AB7FC09E}"/>
              </a:ext>
            </a:extLst>
          </p:cNvPr>
          <p:cNvSpPr txBox="1"/>
          <p:nvPr/>
        </p:nvSpPr>
        <p:spPr>
          <a:xfrm>
            <a:off x="413282" y="1864818"/>
            <a:ext cx="6115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8D928-4E9B-7011-009D-50082033BCC9}"/>
              </a:ext>
            </a:extLst>
          </p:cNvPr>
          <p:cNvSpPr txBox="1"/>
          <p:nvPr/>
        </p:nvSpPr>
        <p:spPr>
          <a:xfrm>
            <a:off x="7005282" y="1864818"/>
            <a:ext cx="6115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16B37-714F-0B91-EA53-45954D66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60" y="2798842"/>
            <a:ext cx="4168501" cy="2491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FF333-DDA8-24DD-05D1-61D23CB1A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324" y="2360087"/>
            <a:ext cx="2187130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4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59841" y="2399389"/>
            <a:ext cx="3661836" cy="134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UIUX Online Newspaper Business Plan Presentation</Template>
  <TotalTime>1777</TotalTime>
  <Words>393</Words>
  <Application>Microsoft Office PowerPoint</Application>
  <PresentationFormat>Widescreen</PresentationFormat>
  <Paragraphs>52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Sitka Display</vt:lpstr>
      <vt:lpstr>Times New Roman</vt:lpstr>
      <vt:lpstr>Staatliches</vt:lpstr>
      <vt:lpstr>Arimo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ER Diagram  </vt:lpstr>
      <vt:lpstr>PowerPoint Presentation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99210041142@klu.ac.in</cp:lastModifiedBy>
  <cp:revision>45</cp:revision>
  <cp:lastPrinted>2026-01-07T11:10:28Z</cp:lastPrinted>
  <dcterms:created xsi:type="dcterms:W3CDTF">2021-02-16T05:19:01Z</dcterms:created>
  <dcterms:modified xsi:type="dcterms:W3CDTF">2026-01-07T12:50:10Z</dcterms:modified>
</cp:coreProperties>
</file>